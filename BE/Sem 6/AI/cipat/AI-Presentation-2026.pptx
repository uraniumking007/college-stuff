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03c3c91dfe4102" /><Relationship Type="http://schemas.openxmlformats.org/officeDocument/2006/relationships/extended-properties" Target="/docProps/app.xml" Id="Ra8f4075566474ebe" /><Relationship Type="http://schemas.openxmlformats.org/officeDocument/2006/relationships/officeDocument" Target="/ppt/presentation.xml" Id="R909ed30df73547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fa2f2d77064902"/>
  </p:sldMasterIdLst>
  <p:notesMasterIdLst>
    <p:notesMasterId xmlns:r="http://schemas.openxmlformats.org/officeDocument/2006/relationships" r:id="R98fe5bac94174866"/>
  </p:notesMasterIdLst>
  <p:sldIdLst>
    <p:sldId xmlns:r="http://schemas.openxmlformats.org/officeDocument/2006/relationships" id="256" r:id="R20ea2224840342bc"/>
    <p:sldId xmlns:r="http://schemas.openxmlformats.org/officeDocument/2006/relationships" id="257" r:id="Rae1aa4bb555b4b86"/>
    <p:sldId xmlns:r="http://schemas.openxmlformats.org/officeDocument/2006/relationships" id="258" r:id="R2c54d15e8fad4b50"/>
    <p:sldId xmlns:r="http://schemas.openxmlformats.org/officeDocument/2006/relationships" id="259" r:id="R56808bf7e2224b7d"/>
    <p:sldId xmlns:r="http://schemas.openxmlformats.org/officeDocument/2006/relationships" id="260" r:id="Rbe2c6607856e4f9d"/>
    <p:sldId xmlns:r="http://schemas.openxmlformats.org/officeDocument/2006/relationships" id="261" r:id="R304a98a17b414a95"/>
    <p:sldId xmlns:r="http://schemas.openxmlformats.org/officeDocument/2006/relationships" id="262" r:id="R92c6a0e5e7a34f0c"/>
    <p:sldId xmlns:r="http://schemas.openxmlformats.org/officeDocument/2006/relationships" id="263" r:id="R9df71c0020e14637"/>
    <p:sldId xmlns:r="http://schemas.openxmlformats.org/officeDocument/2006/relationships" id="264" r:id="R0f7a6de40fa848a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a2f2d77064902" /><Relationship Type="http://schemas.openxmlformats.org/officeDocument/2006/relationships/theme" Target="/ppt/theme/theme1.xml" Id="Rb4d30fb725974432" /><Relationship Type="http://schemas.openxmlformats.org/officeDocument/2006/relationships/notesMaster" Target="/ppt/notesMasters/notesMaster1.xml" Id="R98fe5bac94174866" /><Relationship Type="http://schemas.openxmlformats.org/officeDocument/2006/relationships/presProps" Target="/ppt/presProps.xml" Id="R2456fa4ac134466d" /><Relationship Type="http://schemas.openxmlformats.org/officeDocument/2006/relationships/viewProps" Target="/ppt/viewProps.xml" Id="Rc8db125c858c488a" /><Relationship Type="http://schemas.openxmlformats.org/officeDocument/2006/relationships/tableStyles" Target="/ppt/tableStyles.xml" Id="Ref5599a176ff401c" /><Relationship Type="http://schemas.openxmlformats.org/officeDocument/2006/relationships/slide" Target="/ppt/slides/slide1.xml" Id="R20ea2224840342bc" /><Relationship Type="http://schemas.openxmlformats.org/officeDocument/2006/relationships/slide" Target="/ppt/slides/slide2.xml" Id="Rae1aa4bb555b4b86" /><Relationship Type="http://schemas.openxmlformats.org/officeDocument/2006/relationships/slide" Target="/ppt/slides/slide3.xml" Id="R2c54d15e8fad4b50" /><Relationship Type="http://schemas.openxmlformats.org/officeDocument/2006/relationships/slide" Target="/ppt/slides/slide4.xml" Id="R56808bf7e2224b7d" /><Relationship Type="http://schemas.openxmlformats.org/officeDocument/2006/relationships/slide" Target="/ppt/slides/slide5.xml" Id="Rbe2c6607856e4f9d" /><Relationship Type="http://schemas.openxmlformats.org/officeDocument/2006/relationships/slide" Target="/ppt/slides/slide6.xml" Id="R304a98a17b414a95" /><Relationship Type="http://schemas.openxmlformats.org/officeDocument/2006/relationships/slide" Target="/ppt/slides/slide7.xml" Id="R92c6a0e5e7a34f0c" /><Relationship Type="http://schemas.openxmlformats.org/officeDocument/2006/relationships/slide" Target="/ppt/slides/slide8.xml" Id="R9df71c0020e14637" /><Relationship Type="http://schemas.openxmlformats.org/officeDocument/2006/relationships/slide" Target="/ppt/slides/slide9.xml" Id="R0f7a6de40fa848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a97aab855824a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27dbefb9db426c" /><Relationship Type="http://schemas.openxmlformats.org/officeDocument/2006/relationships/notesMaster" Target="/ppt/notesMasters/notesMaster1.xml" Id="R414ff84a4e9b4d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fde21fbd4d4d50" /><Relationship Type="http://schemas.openxmlformats.org/officeDocument/2006/relationships/notesMaster" Target="/ppt/notesMasters/notesMaster1.xml" Id="R44af060ae08942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25e36149fb4eb7" /><Relationship Type="http://schemas.openxmlformats.org/officeDocument/2006/relationships/notesMaster" Target="/ppt/notesMasters/notesMaster1.xml" Id="R4f61645de6c444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191c6b8ce04928" /><Relationship Type="http://schemas.openxmlformats.org/officeDocument/2006/relationships/notesMaster" Target="/ppt/notesMasters/notesMaster1.xml" Id="R1a841bef583743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e8434bc0084d5f" /><Relationship Type="http://schemas.openxmlformats.org/officeDocument/2006/relationships/notesMaster" Target="/ppt/notesMasters/notesMaster1.xml" Id="R11721f801f2d46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edd7f92d6e487e" /><Relationship Type="http://schemas.openxmlformats.org/officeDocument/2006/relationships/notesMaster" Target="/ppt/notesMasters/notesMaster1.xml" Id="Rf877950f1dd54d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91616d5fbf4b42" /><Relationship Type="http://schemas.openxmlformats.org/officeDocument/2006/relationships/notesMaster" Target="/ppt/notesMasters/notesMaster1.xml" Id="R33b73275122b44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a5050a63254f00" /><Relationship Type="http://schemas.openxmlformats.org/officeDocument/2006/relationships/notesMaster" Target="/ppt/notesMasters/notesMaster1.xml" Id="R7e1981ee545a4c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4cdcdf4ebe4f90" /><Relationship Type="http://schemas.openxmlformats.org/officeDocument/2006/relationships/notesMaster" Target="/ppt/notesMasters/notesMaster1.xml" Id="Ra4001a88d79f40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771adaaee4a4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8bf3db8131442c2" /><Relationship Type="http://schemas.openxmlformats.org/officeDocument/2006/relationships/slideLayout" Target="/ppt/slideLayouts/slideLayout2.xml" Id="R3304086a359845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04086a359845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6ef72ed3a64ab8" /><Relationship Type="http://schemas.openxmlformats.org/officeDocument/2006/relationships/notesSlide" Target="/ppt/notesSlides/notesSlide1.xml" Id="Rfe21537b322945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0e8d4237ec4af3" /><Relationship Type="http://schemas.openxmlformats.org/officeDocument/2006/relationships/notesSlide" Target="/ppt/notesSlides/notesSlide2.xml" Id="Rb28b72f48d5846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529fb4ec1e4f03" /><Relationship Type="http://schemas.openxmlformats.org/officeDocument/2006/relationships/notesSlide" Target="/ppt/notesSlides/notesSlide3.xml" Id="R688c246bce304b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cada86ed5343fd" /><Relationship Type="http://schemas.openxmlformats.org/officeDocument/2006/relationships/notesSlide" Target="/ppt/notesSlides/notesSlide4.xml" Id="R6df0c977f5ce47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e4780a5e1a4414" /><Relationship Type="http://schemas.openxmlformats.org/officeDocument/2006/relationships/notesSlide" Target="/ppt/notesSlides/notesSlide5.xml" Id="Rcf84d5140c514e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8104ad0c9f4cb6" /><Relationship Type="http://schemas.openxmlformats.org/officeDocument/2006/relationships/chart" Target="/ppt/slides/charts/chart1.xml" Id="Rbfa291233ba84f30" /><Relationship Type="http://schemas.openxmlformats.org/officeDocument/2006/relationships/notesSlide" Target="/ppt/notesSlides/notesSlide6.xml" Id="R23c8d998c86e41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9e5b63eca047cd" /><Relationship Type="http://schemas.openxmlformats.org/officeDocument/2006/relationships/notesSlide" Target="/ppt/notesSlides/notesSlide7.xml" Id="Rd2172b8fa0f04e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e3afad9746415f" /><Relationship Type="http://schemas.openxmlformats.org/officeDocument/2006/relationships/notesSlide" Target="/ppt/notesSlides/notesSlide8.xml" Id="R473eba82b63145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89562cacc64144" /><Relationship Type="http://schemas.openxmlformats.org/officeDocument/2006/relationships/notesSlide" Target="/ppt/notesSlides/notesSlide9.xml" Id="R8fdfb8586cf3402d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Comparative Performance (%)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Accuracy</c:v>
          </c:tx>
          <c:cat>
            <c:strLit>
              <c:ptCount val="4"/>
              <c:pt idx="0">
                <c:v>Linear SVM</c:v>
              </c:pt>
              <c:pt idx="1">
                <c:v>Logistic Regression</c:v>
              </c:pt>
              <c:pt idx="2">
                <c:v>Naive Bayes</c:v>
              </c:pt>
              <c:pt idx="3">
                <c:v>Random Forest</c:v>
              </c:pt>
            </c:strLit>
          </c:cat>
          <c:val>
            <c:numLit>
              <c:formatCode/>
              <c:ptCount val="4"/>
              <c:pt idx="0">
                <c:v>99.3</c:v>
              </c:pt>
              <c:pt idx="1">
                <c:v>98.78</c:v>
              </c:pt>
              <c:pt idx="2">
                <c:v>98.69</c:v>
              </c:pt>
              <c:pt idx="3">
                <c:v>96.25</c:v>
              </c:pt>
            </c:numLit>
          </c:val>
        </c:ser>
        <c:ser>
          <c:idx val="1"/>
          <c:order val="1"/>
          <c:tx>
            <c:v>Precision</c:v>
          </c:tx>
          <c:cat>
            <c:strLit>
              <c:ptCount val="4"/>
              <c:pt idx="0">
                <c:v>Linear SVM</c:v>
              </c:pt>
              <c:pt idx="1">
                <c:v>Logistic Regression</c:v>
              </c:pt>
              <c:pt idx="2">
                <c:v>Naive Bayes</c:v>
              </c:pt>
              <c:pt idx="3">
                <c:v>Random Forest</c:v>
              </c:pt>
            </c:strLit>
          </c:cat>
          <c:val>
            <c:numLit>
              <c:formatCode/>
              <c:ptCount val="4"/>
              <c:pt idx="0">
                <c:v>98.9</c:v>
              </c:pt>
              <c:pt idx="1">
                <c:v>98.51</c:v>
              </c:pt>
              <c:pt idx="2">
                <c:v>98.14</c:v>
              </c:pt>
              <c:pt idx="3">
                <c:v>98.33</c:v>
              </c:pt>
            </c:numLit>
          </c:val>
        </c:ser>
        <c:ser>
          <c:idx val="2"/>
          <c:order val="2"/>
          <c:tx>
            <c:v>Recall</c:v>
          </c:tx>
          <c:cat>
            <c:strLit>
              <c:ptCount val="4"/>
              <c:pt idx="0">
                <c:v>Linear SVM</c:v>
              </c:pt>
              <c:pt idx="1">
                <c:v>Logistic Regression</c:v>
              </c:pt>
              <c:pt idx="2">
                <c:v>Naive Bayes</c:v>
              </c:pt>
              <c:pt idx="3">
                <c:v>Random Forest</c:v>
              </c:pt>
            </c:strLit>
          </c:cat>
          <c:val>
            <c:numLit>
              <c:formatCode/>
              <c:ptCount val="4"/>
              <c:pt idx="0">
                <c:v>98.18</c:v>
              </c:pt>
              <c:pt idx="1">
                <c:v>96.35</c:v>
              </c:pt>
              <c:pt idx="2">
                <c:v>96.35</c:v>
              </c:pt>
              <c:pt idx="3">
                <c:v>85.77</c:v>
              </c:pt>
            </c:numLit>
          </c:val>
        </c:ser>
        <c:ser>
          <c:idx val="3"/>
          <c:order val="3"/>
          <c:tx>
            <c:v>F1-score</c:v>
          </c:tx>
          <c:cat>
            <c:strLit>
              <c:ptCount val="4"/>
              <c:pt idx="0">
                <c:v>Linear SVM</c:v>
              </c:pt>
              <c:pt idx="1">
                <c:v>Logistic Regression</c:v>
              </c:pt>
              <c:pt idx="2">
                <c:v>Naive Bayes</c:v>
              </c:pt>
              <c:pt idx="3">
                <c:v>Random Forest</c:v>
              </c:pt>
            </c:strLit>
          </c:cat>
          <c:val>
            <c:numLit>
              <c:formatCode/>
              <c:ptCount val="4"/>
              <c:pt idx="0">
                <c:v>98.53</c:v>
              </c:pt>
              <c:pt idx="1">
                <c:v>97.42</c:v>
              </c:pt>
              <c:pt idx="2">
                <c:v>97.24</c:v>
              </c:pt>
              <c:pt idx="3">
                <c:v>91.62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A96184-6BCA-457A-B4D9-9F062890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96C7E-B8AE-41EE-BD30-9EA2DF78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67"/>
          </a:solidFill>
          <a:ln xmlns:a="http://schemas.openxmlformats.org/drawingml/2006/main" w="0">
            <a:solidFill>
              <a:srgbClr val="173A6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C8541-F14C-4157-8745-4B647DA7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6916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73A67"/>
                </a:solidFill>
              </a:defRPr>
            </a:pPr>
            <a:r>
              <a:rPr sz="1800" b="1">
                <a:solidFill>
                  <a:srgbClr val="173A67"/>
                </a:solidFill>
              </a:rPr>
              <a:t>Navyug Vidyabhavan Trust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31620-18A0-4733-A19B-31C75FF3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691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73A67"/>
                </a:solidFill>
              </a:defRPr>
            </a:pPr>
            <a:r>
              <a:rPr sz="2100" b="1">
                <a:solidFill>
                  <a:srgbClr val="173A67"/>
                </a:solidFill>
              </a:rPr>
              <a:t>C. K. Pithawala College of Engineering &amp;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70F07-21AA-4C72-94A0-3FAD93A3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6916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1E2B36"/>
                </a:solidFill>
              </a:defRPr>
            </a:pPr>
            <a:r>
              <a:rPr sz="1725" b="0">
                <a:solidFill>
                  <a:srgbClr val="1E2B36"/>
                </a:solidFill>
              </a:rPr>
              <a:t>Computer Engineering Department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D8668-646B-4A00-A6B8-83431F62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C6B78"/>
                </a:solidFill>
              </a:defRPr>
            </a:pPr>
            <a:r>
              <a:rPr sz="1575" b="0">
                <a:solidFill>
                  <a:srgbClr val="5C6B78"/>
                </a:solidFill>
              </a:rPr>
              <a:t>Academic year-2025-26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BC252-8A0B-4323-855B-559AE2FF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8229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3A67"/>
                </a:solidFill>
              </a:defRPr>
            </a:pPr>
            <a:r>
              <a:rPr sz="2025" b="1">
                <a:solidFill>
                  <a:srgbClr val="173A67"/>
                </a:solidFill>
              </a:rPr>
              <a:t>Presented By: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4F111-1D95-4EB4-8F61-D5546CBD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82296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Devendra V Patil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Bhavesh S. Patil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Shakti P Vala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Manish Patil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A408D-23A4-41A1-AE43-8C5FC232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D1"/>
          </a:solidFill>
          <a:ln xmlns:a="http://schemas.openxmlformats.org/drawingml/2006/main" w="0">
            <a:solidFill>
              <a:srgbClr val="BFC7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6282A-2501-4308-BF29-5813FF19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8229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E2B36"/>
                </a:solidFill>
              </a:defRPr>
            </a:pPr>
            <a:r>
              <a:rPr sz="1725" b="0">
                <a:solidFill>
                  <a:srgbClr val="1E2B36"/>
                </a:solidFill>
              </a:rPr>
              <a:t>Submitted to: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E2B36"/>
                </a:solidFill>
              </a:defRPr>
            </a:pPr>
            <a:r>
              <a:rPr sz="1725" b="0">
                <a:solidFill>
                  <a:srgbClr val="1E2B36"/>
                </a:solidFill>
              </a:rPr>
              <a:t>Prof. Shraddha Patel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E2B36"/>
                </a:solidFill>
              </a:defRPr>
            </a:pPr>
            <a:r>
              <a:rPr sz="1725" b="0">
                <a:solidFill>
                  <a:srgbClr val="1E2B36"/>
                </a:solidFill>
              </a:rPr>
              <a:t>Assistant Professor (IT)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F0036-0A6D-427C-B71A-2A919CA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8229600" cy="4953000"/>
          </a:xfrm>
          <a:prstGeom xmlns:a="http://schemas.openxmlformats.org/drawingml/2006/main" prst="roundRect">
            <a:avLst>
              <a:gd name="adj" fmla="val 38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DBD5A-1CFB-46EB-9250-0A4FFFB6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720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F67B1"/>
                </a:solidFill>
              </a:defRPr>
            </a:pPr>
            <a:r>
              <a:rPr sz="1875" b="1">
                <a:solidFill>
                  <a:srgbClr val="1F67B1"/>
                </a:solidFill>
              </a:rPr>
              <a:t>Project TITLE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9AA16-F0DC-40AA-BE4F-F7139F74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10150"/>
            <a:ext cx="7429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3750" b="1">
                <a:solidFill>
                  <a:srgbClr val="173A67"/>
                </a:solidFill>
              </a:defRPr>
            </a:pPr>
            <a:r>
              <a:rPr sz="3750" b="1">
                <a:solidFill>
                  <a:srgbClr val="173A67"/>
                </a:solidFill>
              </a:rPr>
              <a:t>Spam Email Detection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3750" b="1">
                <a:solidFill>
                  <a:srgbClr val="173A67"/>
                </a:solidFill>
              </a:defRPr>
            </a:pPr>
            <a:r>
              <a:rPr sz="3750" b="1">
                <a:solidFill>
                  <a:srgbClr val="173A67"/>
                </a:solidFill>
              </a:rPr>
              <a:t>Using Machine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05E62-EDB8-44D5-B3D5-7403F5ED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13410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>
                <a:solidFill>
                  <a:srgbClr val="1E2B36"/>
                </a:solidFill>
              </a:defRPr>
            </a:pPr>
            <a:r>
              <a:rPr sz="1800" b="0">
                <a:solidFill>
                  <a:srgbClr val="1E2B36"/>
                </a:solidFill>
              </a:rPr>
              <a:t>Subject: Artificial Intelligence (31616008)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800" b="0">
                <a:solidFill>
                  <a:srgbClr val="1E2B36"/>
                </a:solidFill>
              </a:defRPr>
            </a:pPr>
            <a:r>
              <a:rPr sz="1800" b="0">
                <a:solidFill>
                  <a:srgbClr val="1E2B36"/>
                </a:solidFill>
              </a:rPr>
              <a:t>BE III, Sem VI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12570-E7E7-4030-913F-984DAA22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6583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127405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10074E-E455-4A7C-963B-4F765C67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BE852-C68A-46FB-9430-B0A50650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67"/>
          </a:solidFill>
          <a:ln xmlns:a="http://schemas.openxmlformats.org/drawingml/2006/main" w="0">
            <a:solidFill>
              <a:srgbClr val="173A6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87B75-4611-4799-AFCC-1F626EBA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428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3A67"/>
                </a:solidFill>
              </a:defRPr>
            </a:pPr>
            <a:r>
              <a:rPr sz="3150" b="1">
                <a:solidFill>
                  <a:srgbClr val="173A67"/>
                </a:solidFill>
              </a:rPr>
              <a:t>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10CEB-75EA-412F-9896-F08F0068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928AC-741D-447A-BFE5-2409D9E0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65504"/>
            <a:ext cx="8181975" cy="1850327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AD205-03E4-49BD-9B59-3A4AFF32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8115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F67B1"/>
                </a:solidFill>
              </a:defRPr>
            </a:pPr>
            <a:r>
              <a:rPr sz="2100" b="1">
                <a:solidFill>
                  <a:srgbClr val="1F67B1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563A6-1909-4215-9D24-CD7D7F70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E2B36"/>
                </a:solidFill>
              </a:defRPr>
            </a:pPr>
            <a:r>
              <a:rPr sz="2025" b="1">
                <a:solidFill>
                  <a:srgbClr val="1E2B36"/>
                </a:solidFill>
              </a:rPr>
              <a:t>Problem Statement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C1857-9619-419E-84A3-0E19D3CF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65504"/>
            <a:ext cx="8181975" cy="1850327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1778B-6450-4549-85F9-34FB05F7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8115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F67B1"/>
                </a:solidFill>
              </a:defRPr>
            </a:pPr>
            <a:r>
              <a:rPr sz="2100" b="1">
                <a:solidFill>
                  <a:srgbClr val="1F67B1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A5C59-7280-42E6-8D2E-3557DADA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0020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E2B36"/>
                </a:solidFill>
              </a:defRPr>
            </a:pPr>
            <a:r>
              <a:rPr sz="2025" b="1">
                <a:solidFill>
                  <a:srgbClr val="1E2B36"/>
                </a:solidFill>
              </a:rPr>
              <a:t>Abstract / Overview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30014-4F29-402A-8E85-595E1C79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7281"/>
            <a:ext cx="8181975" cy="1850327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75732-AF44-48EE-92BF-C93D0B5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F67B1"/>
                </a:solidFill>
              </a:defRPr>
            </a:pPr>
            <a:r>
              <a:rPr sz="2100" b="1">
                <a:solidFill>
                  <a:srgbClr val="1F67B1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54C3E-C435-4BC9-96B1-34F26E7F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1950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E2B36"/>
                </a:solidFill>
              </a:defRPr>
            </a:pPr>
            <a:r>
              <a:rPr sz="2025" b="1">
                <a:solidFill>
                  <a:srgbClr val="1E2B36"/>
                </a:solidFill>
              </a:rPr>
              <a:t>Literature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BA5A8-8D29-4725-A939-3B2D2026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87281"/>
            <a:ext cx="8181975" cy="1850327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2E5E6-79BA-4303-8AAC-61A5DB39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0045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F67B1"/>
                </a:solidFill>
              </a:defRPr>
            </a:pPr>
            <a:r>
              <a:rPr sz="2100" b="1">
                <a:solidFill>
                  <a:srgbClr val="1F67B1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47453-263F-4258-8C1F-AC9A8A2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E2B36"/>
                </a:solidFill>
              </a:defRPr>
            </a:pPr>
            <a:r>
              <a:rPr sz="2025" b="1">
                <a:solidFill>
                  <a:srgbClr val="1E2B36"/>
                </a:solidFill>
              </a:rPr>
              <a:t>Methodology/Approaches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89A3B-249E-43FE-A9C5-7FF1EC9F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09057"/>
            <a:ext cx="8181975" cy="1850327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371D4-45CE-4BEA-811E-AEA5F09D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F67B1"/>
                </a:solidFill>
              </a:defRPr>
            </a:pPr>
            <a:r>
              <a:rPr sz="2100" b="1">
                <a:solidFill>
                  <a:srgbClr val="1F67B1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E32F2-3074-4988-9DD2-4DD2D68B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5785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E2B36"/>
                </a:solidFill>
              </a:defRPr>
            </a:pPr>
            <a:r>
              <a:rPr sz="2025" b="1">
                <a:solidFill>
                  <a:srgbClr val="1E2B36"/>
                </a:solidFill>
              </a:rPr>
              <a:t>Algorithm/Technology/Tools/Datasets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A6EC5-5B80-49A7-A70B-6B1717C0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409057"/>
            <a:ext cx="8181975" cy="1850327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C4903-E762-4192-A8B0-0D91447E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3880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F67B1"/>
                </a:solidFill>
              </a:defRPr>
            </a:pPr>
            <a:r>
              <a:rPr sz="2100" b="1">
                <a:solidFill>
                  <a:srgbClr val="1F67B1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D6D16-A560-40FD-951C-6ACAB51A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5785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E2B36"/>
                </a:solidFill>
              </a:defRPr>
            </a:pPr>
            <a:r>
              <a:rPr sz="2025" b="1">
                <a:solidFill>
                  <a:srgbClr val="1E2B36"/>
                </a:solidFill>
              </a:rPr>
              <a:t>Comparative Study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B35787-9C40-4E1C-9A96-B89DAD6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30834"/>
            <a:ext cx="8181975" cy="1850327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F1C526-BC0B-4C9C-932D-2D6D34E9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5810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F67B1"/>
                </a:solidFill>
              </a:defRPr>
            </a:pPr>
            <a:r>
              <a:rPr sz="2100" b="1">
                <a:solidFill>
                  <a:srgbClr val="1F67B1"/>
                </a:solidFill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6F6071-5023-491B-9E72-E183DC05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67715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E2B36"/>
                </a:solidFill>
              </a:defRPr>
            </a:pPr>
            <a:r>
              <a:rPr sz="2025" b="1">
                <a:solidFill>
                  <a:srgbClr val="1E2B36"/>
                </a:solidFill>
              </a:rPr>
              <a:t>Results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D57BBC-67A5-4F75-B2B3-92AEC9BB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430834"/>
            <a:ext cx="8181975" cy="1850327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DE6CE-CB33-47AB-BDB5-873BF14E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65810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F67B1"/>
                </a:solidFill>
              </a:defRPr>
            </a:pPr>
            <a:r>
              <a:rPr sz="2100" b="1">
                <a:solidFill>
                  <a:srgbClr val="1F67B1"/>
                </a:solidFill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108A40-7177-4DFE-9FE4-9D8E2F39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7715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E2B36"/>
                </a:solidFill>
              </a:defRPr>
            </a:pPr>
            <a:r>
              <a:rPr sz="2025" b="1">
                <a:solidFill>
                  <a:srgbClr val="1E2B36"/>
                </a:solidFill>
              </a:rPr>
              <a:t>Conclusion, Future Scope, References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1B6AA3-CFDC-4691-9B31-7F7A4E6A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82150"/>
            <a:ext cx="3009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B78"/>
                </a:solidFill>
              </a:defRPr>
            </a:pPr>
            <a:r>
              <a:rPr sz="1125" b="0">
                <a:solidFill>
                  <a:srgbClr val="5C6B78"/>
                </a:solidFill>
              </a:rPr>
              <a:t>Spam Email Detection Using Machine Learning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F301D4-190F-4A1F-81FD-11C99DE6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5440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57615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C3CEC2-548E-43B9-9A14-1EAF53F4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B67A5-5938-4A0C-840D-DE5B2DE2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67"/>
          </a:solidFill>
          <a:ln xmlns:a="http://schemas.openxmlformats.org/drawingml/2006/main" w="0">
            <a:solidFill>
              <a:srgbClr val="173A6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E1B6C-B119-4D84-8AA5-6EB88FF4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428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3A67"/>
                </a:solidFill>
              </a:defRPr>
            </a:pPr>
            <a:r>
              <a:rPr sz="3150" b="1">
                <a:solidFill>
                  <a:srgbClr val="173A67"/>
                </a:solidFill>
              </a:rP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89393-A5AA-42B8-8F32-075B6944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3C9CF-55E5-46E2-B9C8-0BABAF7B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89344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73A67"/>
                </a:solidFill>
              </a:defRPr>
            </a:pPr>
            <a:r>
              <a:rPr sz="2550" b="1">
                <a:solidFill>
                  <a:srgbClr val="173A67"/>
                </a:solidFill>
              </a:rPr>
              <a:t>Email spam detection is a binary text-classification problem where each email must be labelled as ham or spam.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83309-210E-4500-B481-089E0A1E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A1E95-2B1B-4EA6-AC06-1602A03E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872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Spam causes wasted bandwidth, storage, and processing resources.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BD80E-7601-477A-A5E6-07BB1BA5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63AD0-1284-456C-9230-8134A49B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872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Spam is also a carrier for phishing, malware, financial fraud, and identity theft.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C948C-EA0C-4A6D-959E-20435549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B6407-9D7C-4218-A25B-DD216A0B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38850"/>
            <a:ext cx="872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Rule-based filters are insufficient because spam content changes continuously.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52758-989B-44A1-B16B-A5AF8CCE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38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BFE5D-B57B-4930-BC5D-2770E1D6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38900"/>
            <a:ext cx="872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The goal is to build an adaptive ML classifier with high precision and recall.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C70A0-08FF-4352-9D57-D4589C9D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508" y="3008757"/>
            <a:ext cx="7312343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4C7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AE8CC-A839-46B0-B351-156A837B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76600"/>
            <a:ext cx="6781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C0392B"/>
                </a:solidFill>
              </a:defRPr>
            </a:pPr>
            <a:r>
              <a:rPr sz="1950" b="1">
                <a:solidFill>
                  <a:srgbClr val="C0392B"/>
                </a:solidFill>
              </a:rPr>
              <a:t>45-85%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C0392B"/>
                </a:solidFill>
              </a:defRPr>
            </a:pPr>
            <a:r>
              <a:rPr sz="1950" b="1">
                <a:solidFill>
                  <a:srgbClr val="C0392B"/>
                </a:solidFill>
              </a:rPr>
              <a:t>spam share reported in global email traffic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6449B-1AE1-4B83-AD09-DD05823E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508" y="4608957"/>
            <a:ext cx="7312343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5DA"/>
          </a:solidFill>
          <a:ln xmlns:a="http://schemas.openxmlformats.org/drawingml/2006/main" w="9525">
            <a:solidFill>
              <a:srgbClr val="E9D59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901C0-9208-4448-B846-3DA17455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876800"/>
            <a:ext cx="6781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B87900"/>
                </a:solidFill>
              </a:defRPr>
            </a:pPr>
            <a:r>
              <a:rPr sz="1950" b="1">
                <a:solidFill>
                  <a:srgbClr val="B87900"/>
                </a:solidFill>
              </a:rPr>
              <a:t>1,368 spam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B87900"/>
                </a:solidFill>
              </a:defRPr>
            </a:pPr>
            <a:r>
              <a:rPr sz="1950" b="1">
                <a:solidFill>
                  <a:srgbClr val="B87900"/>
                </a:solidFill>
              </a:rPr>
              <a:t>messages in the Enron dataset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87142-13E7-42A6-8245-543F8AC5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508" y="6209157"/>
            <a:ext cx="7312343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B8DD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572B2-06BC-47C3-84B2-E7ACAA97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77000"/>
            <a:ext cx="6781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48A61"/>
                </a:solidFill>
              </a:defRPr>
            </a:pPr>
            <a:r>
              <a:rPr sz="1950" b="1">
                <a:solidFill>
                  <a:srgbClr val="148A61"/>
                </a:solidFill>
              </a:rPr>
              <a:t>5 missed spam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48A61"/>
                </a:solidFill>
              </a:defRPr>
            </a:pPr>
            <a:r>
              <a:rPr sz="1950" b="1">
                <a:solidFill>
                  <a:srgbClr val="148A61"/>
                </a:solidFill>
              </a:rPr>
              <a:t>with Linear SVM on test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87E67-CB31-4DB6-A904-4D07A03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82150"/>
            <a:ext cx="3009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B78"/>
                </a:solidFill>
              </a:defRPr>
            </a:pPr>
            <a:r>
              <a:rPr sz="1125" b="0">
                <a:solidFill>
                  <a:srgbClr val="5C6B78"/>
                </a:solidFill>
              </a:rPr>
              <a:t>Spam Email Detection Using Machine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06972-D13F-49CC-B735-547DF97F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5440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327678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C7A5A7-EE29-4C53-980E-9A19A8A9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47B3A-50BE-4D28-9551-42D33D29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67"/>
          </a:solidFill>
          <a:ln xmlns:a="http://schemas.openxmlformats.org/drawingml/2006/main" w="0">
            <a:solidFill>
              <a:srgbClr val="173A6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15B47-8AAC-40CB-8B5E-02F66E79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428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3A67"/>
                </a:solidFill>
              </a:defRPr>
            </a:pPr>
            <a:r>
              <a:rPr sz="3150" b="1">
                <a:solidFill>
                  <a:srgbClr val="173A67"/>
                </a:solidFill>
              </a:rPr>
              <a:t>Abstract/Overview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4F2C2-2AA8-43EA-86E3-361AC80D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71E1C-5F28-4444-ABCB-EB18FEC3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81343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73A67"/>
                </a:solidFill>
              </a:defRPr>
            </a:pPr>
            <a:r>
              <a:rPr sz="2475" b="1">
                <a:solidFill>
                  <a:srgbClr val="173A67"/>
                </a:solidFill>
              </a:rPr>
              <a:t>This project compares four supervised learning algorithms for detecting spam emails from the Enron Email Dataset.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554E7-AB17-4A5B-A6E6-A06EACA4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BDC09-E0EA-4670-B988-BF16A004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Dataset: 5,728 emails, with 4,360 ham and 1,368 spam messages.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5F179-9A05-42CE-A0CC-B4E9BBCC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7E542-850E-47AE-88D1-CB2F6E3A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Features: TF-IDF with unigrams and bigrams, capped at 5,000 terms.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AEAD6-B0E2-4D6E-8130-6614E078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C6268-0ADE-4BCC-8CC8-5D021D93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007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Split: 80% training and 20% testing using stratified sampling.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A406C-982E-4C3B-98B8-EDC80682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00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A2BB8-14C3-4F81-BDDF-E05120D7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008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Metrics: accuracy, precision, recall, and F1-score.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59B75-F160-451A-85F3-3F84B363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365504"/>
            <a:ext cx="8124825" cy="7915656"/>
          </a:xfrm>
          <a:prstGeom xmlns:a="http://schemas.openxmlformats.org/drawingml/2006/main" prst="roundRect">
            <a:avLst>
              <a:gd name="adj" fmla="val 96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5D7F6-0796-47B5-8C89-3D11F4E8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7195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F67B1"/>
                </a:solidFill>
              </a:defRPr>
            </a:pPr>
            <a:r>
              <a:rPr sz="2100" b="1">
                <a:solidFill>
                  <a:srgbClr val="1F67B1"/>
                </a:solidFill>
              </a:rPr>
              <a:t>Key finding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F0DC9-7767-4570-B910-FFE59EF3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29150"/>
            <a:ext cx="74866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3A67"/>
                </a:solidFill>
              </a:defRPr>
            </a:pPr>
            <a:r>
              <a:rPr sz="2850" b="1">
                <a:solidFill>
                  <a:srgbClr val="173A67"/>
                </a:solidFill>
              </a:rPr>
              <a:t>Linear SVM achieved the best overall result: 99.30% accuracy and 98.53% F1-score.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EFEA8-D25A-4EC4-8267-5C8D657A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962650"/>
            <a:ext cx="7486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It is recommended because it handles sparse, high-dimensional TF-IDF features effectively.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149B6-4645-419D-AB4C-487C9BC8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82150"/>
            <a:ext cx="3009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B78"/>
                </a:solidFill>
              </a:defRPr>
            </a:pPr>
            <a:r>
              <a:rPr sz="1125" b="0">
                <a:solidFill>
                  <a:srgbClr val="5C6B78"/>
                </a:solidFill>
              </a:rPr>
              <a:t>Spam Email Detection Using Machine Learning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7A94E-CC71-4C5E-AD5F-083430CA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5440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75595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38C8F2-060E-4982-A507-11650D95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041F5-AD28-458E-A664-9D71D36C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67"/>
          </a:solidFill>
          <a:ln xmlns:a="http://schemas.openxmlformats.org/drawingml/2006/main" w="0">
            <a:solidFill>
              <a:srgbClr val="173A6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EAD01-1AE1-40EB-8845-6A41EB00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428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3A67"/>
                </a:solidFill>
              </a:defRPr>
            </a:pPr>
            <a:r>
              <a:rPr sz="3150" b="1">
                <a:solidFill>
                  <a:srgbClr val="173A67"/>
                </a:solidFill>
              </a:rPr>
              <a:t>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6E763-BFF0-44A7-A366-93DA51F5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1381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B78"/>
                </a:solidFill>
              </a:defRPr>
            </a:pPr>
            <a:r>
              <a:rPr sz="1650" b="0">
                <a:solidFill>
                  <a:srgbClr val="5C6B78"/>
                </a:solidFill>
              </a:rPr>
              <a:t>Techniques detail with numerical example, used for your data 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BE082-81C3-4485-85B9-2FE13AC1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53718"/>
            <a:ext cx="322326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4B0D3-C925-4707-8DF1-1DE331D9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2838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F67B1"/>
                </a:solidFill>
              </a:defRPr>
            </a:pPr>
            <a:r>
              <a:rPr sz="2250" b="1">
                <a:solidFill>
                  <a:srgbClr val="1F67B1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FFD1C-9051-4B17-B0E5-85AC1978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E2B36"/>
                </a:solidFill>
              </a:defRPr>
            </a:pPr>
            <a:r>
              <a:rPr sz="1800" b="1">
                <a:solidFill>
                  <a:srgbClr val="1E2B36"/>
                </a:solidFill>
              </a:rPr>
              <a:t>Load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E8835-51C9-46E5-9DF6-FD9C0AF1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760" y="1553718"/>
            <a:ext cx="322326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12C14-B618-4F66-B4BA-C90D31EB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2838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F67B1"/>
                </a:solidFill>
              </a:defRPr>
            </a:pPr>
            <a:r>
              <a:rPr sz="2250" b="1">
                <a:solidFill>
                  <a:srgbClr val="1F67B1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5B535-7A2E-4780-BF2D-4E808504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E2B36"/>
                </a:solidFill>
              </a:defRPr>
            </a:pPr>
            <a:r>
              <a:rPr sz="1800" b="1">
                <a:solidFill>
                  <a:srgbClr val="1E2B36"/>
                </a:solidFill>
              </a:rPr>
              <a:t>Clean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0A5DC-988B-4639-A6E9-BE59990D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1553718"/>
            <a:ext cx="322326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0A90F-FFC1-4900-B574-A1C45887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2838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F67B1"/>
                </a:solidFill>
              </a:defRPr>
            </a:pPr>
            <a:r>
              <a:rPr sz="2250" b="1">
                <a:solidFill>
                  <a:srgbClr val="1F67B1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2B56B-14B2-485A-870A-6156880D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E2B36"/>
                </a:solidFill>
              </a:defRPr>
            </a:pPr>
            <a:r>
              <a:rPr sz="1800" b="1">
                <a:solidFill>
                  <a:srgbClr val="1E2B36"/>
                </a:solidFill>
              </a:rPr>
              <a:t>TF-IDF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E8E0B-DFC9-4E6A-A5F9-FCCBDEF9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980" y="1553718"/>
            <a:ext cx="322326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54A5C-9328-4F35-89D3-52629D8C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000250"/>
            <a:ext cx="2838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F67B1"/>
                </a:solidFill>
              </a:defRPr>
            </a:pPr>
            <a:r>
              <a:rPr sz="2250" b="1">
                <a:solidFill>
                  <a:srgbClr val="1F67B1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B0AD6-903B-4054-86DD-98B93289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3812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E2B36"/>
                </a:solidFill>
              </a:defRPr>
            </a:pPr>
            <a:r>
              <a:rPr sz="1800" b="1">
                <a:solidFill>
                  <a:srgbClr val="1E2B36"/>
                </a:solidFill>
              </a:rPr>
              <a:t>Train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88233-336D-4686-93F0-0DA62DEE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5590" y="1553718"/>
            <a:ext cx="322326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F912E-F4E0-44E2-BAE0-0213A963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000250"/>
            <a:ext cx="2838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F67B1"/>
                </a:solidFill>
              </a:defRPr>
            </a:pPr>
            <a:r>
              <a:rPr sz="2250" b="1">
                <a:solidFill>
                  <a:srgbClr val="1F67B1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D8606-7A4D-44E2-A81B-00C047B4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3812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E2B36"/>
                </a:solidFill>
              </a:defRPr>
            </a:pPr>
            <a:r>
              <a:rPr sz="1800" b="1">
                <a:solidFill>
                  <a:srgbClr val="1E2B36"/>
                </a:solidFill>
              </a:rPr>
              <a:t>Evaluate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C464F-372B-4A72-B186-7FE828B1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5368"/>
            <a:ext cx="8162925" cy="5955792"/>
          </a:xfrm>
          <a:prstGeom xmlns:a="http://schemas.openxmlformats.org/drawingml/2006/main" prst="roundRect">
            <a:avLst>
              <a:gd name="adj" fmla="val 1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00341-4940-41EA-99AF-207C3A1A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7600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73A67"/>
                </a:solidFill>
              </a:defRPr>
            </a:pPr>
            <a:r>
              <a:rPr sz="2100" b="1">
                <a:solidFill>
                  <a:srgbClr val="173A67"/>
                </a:solidFill>
              </a:rPr>
              <a:t>Techniques detail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094E5-C00F-4FAD-A670-8E186834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63477-80FD-4C1D-9E31-C0B93D69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7372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Lowercase text and normalize URLs to a url token.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F726A-D6DE-47D0-90E2-9AB83A02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00908-5A13-4442-9ACE-567C0C28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7372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Replace emails/phones and remove special characters.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BAE71-EB8F-4178-B471-63556104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B99F9-AB3C-4E14-A78D-DDBD3F8A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7372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Remove stopwords and apply lightweight stemming.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F38558-3D9F-43BB-8BAC-E4EA7399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325368"/>
            <a:ext cx="8162925" cy="5955792"/>
          </a:xfrm>
          <a:prstGeom xmlns:a="http://schemas.openxmlformats.org/drawingml/2006/main" prst="roundRect">
            <a:avLst>
              <a:gd name="adj" fmla="val 1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C29A06-6092-4E28-AE1F-91FDC3E9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0"/>
            <a:ext cx="7600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73A67"/>
                </a:solidFill>
              </a:defRPr>
            </a:pPr>
            <a:r>
              <a:rPr sz="2100" b="1">
                <a:solidFill>
                  <a:srgbClr val="173A67"/>
                </a:solidFill>
              </a:rPr>
              <a:t>Language / Tools used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10A662-1043-44BB-9FFC-277469F5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57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A61"/>
          </a:solidFill>
          <a:ln xmlns:a="http://schemas.openxmlformats.org/drawingml/2006/main" w="0">
            <a:solidFill>
              <a:srgbClr val="148A6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79AB01-C560-4D59-B12A-A2383CC7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57650"/>
            <a:ext cx="7372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Python, pandas, NumPy.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1F8E06-FDE8-4A13-9859-BD5CCE04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577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A61"/>
          </a:solidFill>
          <a:ln xmlns:a="http://schemas.openxmlformats.org/drawingml/2006/main" w="0">
            <a:solidFill>
              <a:srgbClr val="148A6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D2E32A-E325-4331-9198-BD970902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57700"/>
            <a:ext cx="7372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Scikit-learn: TF-IDF, classifiers, train-test split, metrics.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4393EA-34BA-490B-8FE9-B5046380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577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A61"/>
          </a:solidFill>
          <a:ln xmlns:a="http://schemas.openxmlformats.org/drawingml/2006/main" w="0">
            <a:solidFill>
              <a:srgbClr val="148A6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06234D-CD35-4686-874F-C2AD3464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57750"/>
            <a:ext cx="7372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Matplotlib and Seaborn for charts and confusion matrices.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3E94C0-6837-4C7D-B50D-1259C7BF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82150"/>
            <a:ext cx="3009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B78"/>
                </a:solidFill>
              </a:defRPr>
            </a:pPr>
            <a:r>
              <a:rPr sz="1125" b="0">
                <a:solidFill>
                  <a:srgbClr val="5C6B78"/>
                </a:solidFill>
              </a:rPr>
              <a:t>Spam Email Detection Using Machine Learning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866AF5-9E3B-4028-8342-B53D737B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5440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16980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F5CD8D-1BCA-4532-A5C4-89B9FFB5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1659F-E45E-4D48-917B-920CA325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67"/>
          </a:solidFill>
          <a:ln xmlns:a="http://schemas.openxmlformats.org/drawingml/2006/main" w="0">
            <a:solidFill>
              <a:srgbClr val="173A6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21737-AE58-4F9A-803D-D0727CDD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428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3A67"/>
                </a:solidFill>
              </a:defRPr>
            </a:pPr>
            <a:r>
              <a:rPr sz="3150" b="1">
                <a:solidFill>
                  <a:srgbClr val="173A67"/>
                </a:solidFill>
              </a:rPr>
              <a:t>Results-comparison-Tables-Graphs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84667-BA54-4A96-92BC-B44DAEAC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819150" y="1365504"/>
          <a:ext xmlns:a="http://schemas.openxmlformats.org/drawingml/2006/main" cx="8979218" cy="7915656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a291233ba84f3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209C4-9DBD-44F6-B73D-9D5362DB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218" y="1365504"/>
            <a:ext cx="7346633" cy="1893189"/>
          </a:xfrm>
          <a:prstGeom xmlns:a="http://schemas.openxmlformats.org/drawingml/2006/main" prst="roundRect">
            <a:avLst>
              <a:gd name="adj" fmla="val 402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D9BCD-7562-47FF-B28B-7110AAA6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43050"/>
            <a:ext cx="701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8A61"/>
                </a:solidFill>
              </a:defRPr>
            </a:pPr>
            <a:r>
              <a:rPr sz="1725" b="1">
                <a:solidFill>
                  <a:srgbClr val="148A61"/>
                </a:solidFill>
              </a:rPr>
              <a:t>Linear SVM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16405-E78C-4708-BBDD-C66B19D4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28800"/>
            <a:ext cx="701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E2B36"/>
                </a:solidFill>
              </a:defRPr>
            </a:pPr>
            <a:r>
              <a:rPr sz="1500" b="0">
                <a:solidFill>
                  <a:srgbClr val="1E2B36"/>
                </a:solidFill>
              </a:rPr>
              <a:t>Accuracy 99.30% | F1 98.53%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7A910-CD80-4CDA-BFA1-5E21ACF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218" y="3372993"/>
            <a:ext cx="7346633" cy="1893189"/>
          </a:xfrm>
          <a:prstGeom xmlns:a="http://schemas.openxmlformats.org/drawingml/2006/main" prst="roundRect">
            <a:avLst>
              <a:gd name="adj" fmla="val 402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FE532-DD28-4C42-981A-0DB27DB9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43300"/>
            <a:ext cx="701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Logistic 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F8FE6-6E9A-465F-8366-0CAE3BE3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29050"/>
            <a:ext cx="701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E2B36"/>
                </a:solidFill>
              </a:defRPr>
            </a:pPr>
            <a:r>
              <a:rPr sz="1500" b="0">
                <a:solidFill>
                  <a:srgbClr val="1E2B36"/>
                </a:solidFill>
              </a:rPr>
              <a:t>Accuracy 98.78% | F1 97.42%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1AAD1-12EA-467C-BD81-E2BC2D38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218" y="5380482"/>
            <a:ext cx="7346633" cy="1893189"/>
          </a:xfrm>
          <a:prstGeom xmlns:a="http://schemas.openxmlformats.org/drawingml/2006/main" prst="roundRect">
            <a:avLst>
              <a:gd name="adj" fmla="val 402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90C72-7FFA-477E-9958-907D5FDF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43550"/>
            <a:ext cx="701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Naive Bayes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EBAC2-21D9-47FD-9B6E-8C70B935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29300"/>
            <a:ext cx="701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E2B36"/>
                </a:solidFill>
              </a:defRPr>
            </a:pPr>
            <a:r>
              <a:rPr sz="1500" b="0">
                <a:solidFill>
                  <a:srgbClr val="1E2B36"/>
                </a:solidFill>
              </a:rPr>
              <a:t>Accuracy 98.69% | F1 97.24%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B9B2B-D9E1-4396-8CEC-A99058BA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218" y="7387971"/>
            <a:ext cx="7346633" cy="1893189"/>
          </a:xfrm>
          <a:prstGeom xmlns:a="http://schemas.openxmlformats.org/drawingml/2006/main" prst="roundRect">
            <a:avLst>
              <a:gd name="adj" fmla="val 402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3F5BB-EBE3-4A70-8164-D3C082CF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562850"/>
            <a:ext cx="701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3A67"/>
                </a:solidFill>
              </a:defRPr>
            </a:pPr>
            <a:r>
              <a:rPr sz="1725" b="1">
                <a:solidFill>
                  <a:srgbClr val="173A67"/>
                </a:solidFill>
              </a:rPr>
              <a:t>Random Forest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EADF8-BC79-4773-9AD9-353B4754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848600"/>
            <a:ext cx="701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E2B36"/>
                </a:solidFill>
              </a:defRPr>
            </a:pPr>
            <a:r>
              <a:rPr sz="1500" b="0">
                <a:solidFill>
                  <a:srgbClr val="1E2B36"/>
                </a:solidFill>
              </a:rPr>
              <a:t>Accuracy 96.25% | F1 91.62%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95557-E4C9-490A-B6E9-178583E0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82150"/>
            <a:ext cx="3009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B78"/>
                </a:solidFill>
              </a:defRPr>
            </a:pPr>
            <a:r>
              <a:rPr sz="1125" b="0">
                <a:solidFill>
                  <a:srgbClr val="5C6B78"/>
                </a:solidFill>
              </a:rPr>
              <a:t>Spam Email Detection Using Machine Learning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FC9C3-5576-461E-B102-CC61390C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5440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998200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EC0F19-F1FD-4823-9AA3-FA69F419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430FF-C1BA-4981-BF9C-9FDEFBBC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67"/>
          </a:solidFill>
          <a:ln xmlns:a="http://schemas.openxmlformats.org/drawingml/2006/main" w="0">
            <a:solidFill>
              <a:srgbClr val="173A6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F771F-BF33-4B0F-9EA2-2D8B2CAA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428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3A67"/>
                </a:solidFill>
              </a:defRPr>
            </a:pPr>
            <a:r>
              <a:rPr sz="3150" b="1">
                <a:solidFill>
                  <a:srgbClr val="173A67"/>
                </a:solidFill>
              </a:rPr>
              <a:t>Results-comparison-Tables-Graphs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10979-5662-44DA-91CB-B711E304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38608-C558-450F-A13A-40322C76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65504"/>
            <a:ext cx="3570446" cy="3872103"/>
          </a:xfrm>
          <a:prstGeom xmlns:a="http://schemas.openxmlformats.org/drawingml/2006/main" prst="roundRect">
            <a:avLst>
              <a:gd name="adj" fmla="val 213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679DC-25E9-420E-8C50-7C39A635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811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A67"/>
                </a:solidFill>
              </a:defRPr>
            </a:pPr>
            <a:r>
              <a:rPr sz="2625" b="1">
                <a:solidFill>
                  <a:srgbClr val="173A67"/>
                </a:solidFill>
              </a:rPr>
              <a:t>99.30%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A67"/>
                </a:solidFill>
              </a:defRPr>
            </a:pPr>
            <a:r>
              <a:rPr sz="2625" b="1">
                <a:solidFill>
                  <a:srgbClr val="173A67"/>
                </a:solidFill>
              </a:rPr>
              <a:t>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46FC7-A761-403A-A6B3-626E6EEA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046" y="1365504"/>
            <a:ext cx="3570446" cy="3872103"/>
          </a:xfrm>
          <a:prstGeom xmlns:a="http://schemas.openxmlformats.org/drawingml/2006/main" prst="roundRect">
            <a:avLst>
              <a:gd name="adj" fmla="val 21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9070E-10C1-4905-81C4-FE1729CE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F67B1"/>
                </a:solidFill>
              </a:defRPr>
            </a:pPr>
            <a:r>
              <a:rPr sz="2625" b="1">
                <a:solidFill>
                  <a:srgbClr val="1F67B1"/>
                </a:solidFill>
              </a:rPr>
              <a:t>98.90%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F67B1"/>
                </a:solidFill>
              </a:defRPr>
            </a:pPr>
            <a:r>
              <a:rPr sz="2625" b="1">
                <a:solidFill>
                  <a:srgbClr val="1F67B1"/>
                </a:solidFill>
              </a:rPr>
              <a:t>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20C33-06BB-484F-BA2C-883BB190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09057"/>
            <a:ext cx="3570446" cy="3872103"/>
          </a:xfrm>
          <a:prstGeom xmlns:a="http://schemas.openxmlformats.org/drawingml/2006/main" prst="roundRect">
            <a:avLst>
              <a:gd name="adj" fmla="val 2134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95AB9-77AD-4E3A-B4AE-FE33E119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197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48A61"/>
                </a:solidFill>
              </a:defRPr>
            </a:pPr>
            <a:r>
              <a:rPr sz="2625" b="1">
                <a:solidFill>
                  <a:srgbClr val="148A61"/>
                </a:solidFill>
              </a:rPr>
              <a:t>98.18%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48A61"/>
                </a:solidFill>
              </a:defRPr>
            </a:pPr>
            <a:r>
              <a:rPr sz="2625" b="1">
                <a:solidFill>
                  <a:srgbClr val="148A61"/>
                </a:solidFill>
              </a:rPr>
              <a:t>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18DD7-7360-44CE-920A-A98943A2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046" y="5409057"/>
            <a:ext cx="3570446" cy="3872103"/>
          </a:xfrm>
          <a:prstGeom xmlns:a="http://schemas.openxmlformats.org/drawingml/2006/main" prst="roundRect">
            <a:avLst>
              <a:gd name="adj" fmla="val 2134"/>
            </a:avLst>
          </a:prstGeom>
          <a:solidFill xmlns:a="http://schemas.openxmlformats.org/drawingml/2006/main">
            <a:srgbClr val="FFF5DA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E161B-88B8-4EF5-9CCC-677A2762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1975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B87900"/>
                </a:solidFill>
              </a:defRPr>
            </a:pPr>
            <a:r>
              <a:rPr sz="2625" b="1">
                <a:solidFill>
                  <a:srgbClr val="B87900"/>
                </a:solidFill>
              </a:rPr>
              <a:t>98.53%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B87900"/>
                </a:solidFill>
              </a:defRPr>
            </a:pPr>
            <a:r>
              <a:rPr sz="2625" b="1">
                <a:solidFill>
                  <a:srgbClr val="B87900"/>
                </a:solidFill>
              </a:rPr>
              <a:t>F1-score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8B298-BD69-4956-8B46-C095B909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24350"/>
            <a:ext cx="8934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73A67"/>
                </a:solidFill>
              </a:defRPr>
            </a:pPr>
            <a:r>
              <a:rPr sz="2550" b="1">
                <a:solidFill>
                  <a:srgbClr val="173A67"/>
                </a:solidFill>
              </a:rPr>
              <a:t>Best Model: Linear SVM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83DE2-68F0-4AF9-86F5-9E100FF4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A61"/>
          </a:solidFill>
          <a:ln xmlns:a="http://schemas.openxmlformats.org/drawingml/2006/main" w="0">
            <a:solidFill>
              <a:srgbClr val="148A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75D57-C166-4359-ABC4-D37C7EF0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0"/>
            <a:ext cx="872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Only 5 spam emails were misclassified as ham.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33CCB-E8AE-4988-8690-8EA8BC4E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57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A61"/>
          </a:solidFill>
          <a:ln xmlns:a="http://schemas.openxmlformats.org/drawingml/2006/main" w="0">
            <a:solidFill>
              <a:srgbClr val="148A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5C92E-F808-4885-86C0-A7953E82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57800"/>
            <a:ext cx="872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Only 3 legitimate emails were incorrectly flagged as spam.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8AB1A-C715-40E6-AAA6-AE93792F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6578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A61"/>
          </a:solidFill>
          <a:ln xmlns:a="http://schemas.openxmlformats.org/drawingml/2006/main" w="0">
            <a:solidFill>
              <a:srgbClr val="148A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7F18E-696F-41B9-BC15-D3B61850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57850"/>
            <a:ext cx="872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Maximum-margin classification fits sparse TF-IDF spaces well.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97566-2530-4117-BD2C-845886BC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57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A61"/>
          </a:solidFill>
          <a:ln xmlns:a="http://schemas.openxmlformats.org/drawingml/2006/main" w="0">
            <a:solidFill>
              <a:srgbClr val="148A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D23FD6-AFAA-4EA5-9195-713FA42E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057900"/>
            <a:ext cx="872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Random Forest has high precision, but its lower recall misses more spam.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09F925-F6A3-4DA6-80CB-E96C7346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82150"/>
            <a:ext cx="3009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B78"/>
                </a:solidFill>
              </a:defRPr>
            </a:pPr>
            <a:r>
              <a:rPr sz="1125" b="0">
                <a:solidFill>
                  <a:srgbClr val="5C6B78"/>
                </a:solidFill>
              </a:rPr>
              <a:t>Spam Email Detection Using Machine Learning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5E618-D6FE-4CD1-8304-ABD6E175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5440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066534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62B296-F768-4862-8E44-7F317321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16EAF-C071-46B8-B5D3-B49D73A0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67"/>
          </a:solidFill>
          <a:ln xmlns:a="http://schemas.openxmlformats.org/drawingml/2006/main" w="0">
            <a:solidFill>
              <a:srgbClr val="173A6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4DA69-FBB5-4ECA-BE2E-E6622456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428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3A67"/>
                </a:solidFill>
              </a:defRPr>
            </a:pPr>
            <a:r>
              <a:rPr sz="3150" b="1">
                <a:solidFill>
                  <a:srgbClr val="173A67"/>
                </a:solidFill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9AD93-B08A-4BF7-A0F1-DDBEBD4C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A2CDE-191D-4B05-9790-C9A22EB8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65504"/>
            <a:ext cx="8124825" cy="7915656"/>
          </a:xfrm>
          <a:prstGeom xmlns:a="http://schemas.openxmlformats.org/drawingml/2006/main" prst="roundRect">
            <a:avLst>
              <a:gd name="adj" fmla="val 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5945B-43DA-403D-AC9C-E30B34CE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76400"/>
            <a:ext cx="752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73A67"/>
                </a:solidFill>
              </a:defRPr>
            </a:pPr>
            <a:r>
              <a:rPr sz="2250" b="1">
                <a:solidFill>
                  <a:srgbClr val="173A67"/>
                </a:solidFill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03395-9575-43B8-BD8D-E75D2138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2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F810E-8343-44CC-A9EE-D31A633E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52650"/>
            <a:ext cx="729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TF-IDF features provide strong separation for email spam detection.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9A6E4-1B22-42DE-A02F-C49C6173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F7DE4-A5F2-46D4-A5E1-F9EF3BF3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52700"/>
            <a:ext cx="729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All four models exceed 96% accuracy on the test set.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94F76-3473-41DB-B5C0-18507871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F20CA-0EE8-460C-A1E7-93E5C1BE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7296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Linear SVM performs best overall and is recommended for deployment.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EBFF7-C52C-4070-BA39-570BC191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365504"/>
            <a:ext cx="8124825" cy="7915656"/>
          </a:xfrm>
          <a:prstGeom xmlns:a="http://schemas.openxmlformats.org/drawingml/2006/main" prst="roundRect">
            <a:avLst>
              <a:gd name="adj" fmla="val 96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FC7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2504F-1527-4654-BDC3-8952E137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76400"/>
            <a:ext cx="752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73A67"/>
                </a:solidFill>
              </a:defRPr>
            </a:pPr>
            <a:r>
              <a:rPr sz="2250" b="1">
                <a:solidFill>
                  <a:srgbClr val="173A67"/>
                </a:solidFill>
              </a:rPr>
              <a:t>Future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B4B7B-56E4-4C9F-A820-F3F22E81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52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A61"/>
          </a:solidFill>
          <a:ln xmlns:a="http://schemas.openxmlformats.org/drawingml/2006/main" w="0">
            <a:solidFill>
              <a:srgbClr val="148A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EC689-40A7-4AC6-896D-522A8BC3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52650"/>
            <a:ext cx="729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Use LSTM/BiLSTM or BERT for contextual spam detection.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EEBE1-B4AD-4F5A-A09F-2EBD0F01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527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A61"/>
          </a:solidFill>
          <a:ln xmlns:a="http://schemas.openxmlformats.org/drawingml/2006/main" w="0">
            <a:solidFill>
              <a:srgbClr val="148A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FED03-C656-444C-8B35-FB045CCD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52700"/>
            <a:ext cx="729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Use online learning for real-time adaptation.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1A739-8201-4EF7-A543-959816F9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527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A61"/>
          </a:solidFill>
          <a:ln xmlns:a="http://schemas.openxmlformats.org/drawingml/2006/main" w="0">
            <a:solidFill>
              <a:srgbClr val="148A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2012F-7E8D-49FB-B8B8-2D77C5A5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52750"/>
            <a:ext cx="729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Apply SMOTE/class weighting for imbalance handling.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04DA8-646D-4859-BF75-0DD35476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52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A61"/>
          </a:solidFill>
          <a:ln xmlns:a="http://schemas.openxmlformats.org/drawingml/2006/main" w="0">
            <a:solidFill>
              <a:srgbClr val="148A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878B2-070E-4276-8840-0B2C5F29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52800"/>
            <a:ext cx="729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Add SHAP or LIME for explainable predictions.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BAB5B5-BF8D-4CCD-936C-FA11A3E0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82150"/>
            <a:ext cx="3009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B78"/>
                </a:solidFill>
              </a:defRPr>
            </a:pPr>
            <a:r>
              <a:rPr sz="1125" b="0">
                <a:solidFill>
                  <a:srgbClr val="5C6B78"/>
                </a:solidFill>
              </a:rPr>
              <a:t>Spam Email Detection Using Machine Learning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86A53-A70A-4F3D-8682-0FE42472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5440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765824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7F038C-7173-4990-9DC2-1DF279D7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37B48-A294-46C3-92A5-93792AEC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67"/>
          </a:solidFill>
          <a:ln xmlns:a="http://schemas.openxmlformats.org/drawingml/2006/main" w="0">
            <a:solidFill>
              <a:srgbClr val="173A6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E3B45-B2EE-4923-AF8C-C6C1D2E6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428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3A67"/>
                </a:solidFill>
              </a:defRPr>
            </a:pPr>
            <a:r>
              <a:rPr sz="3150" b="1">
                <a:solidFill>
                  <a:srgbClr val="173A67"/>
                </a:solidFill>
              </a:rPr>
              <a:t>References: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19AA8-8C4B-4025-9D71-DB5A9820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7B1"/>
          </a:solidFill>
          <a:ln xmlns:a="http://schemas.openxmlformats.org/drawingml/2006/main" w="0">
            <a:solidFill>
              <a:srgbClr val="1F67B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24ED6-326B-4D10-8A1F-5C9C0927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[1] Spam Email Detection Using Machine Learning: A Comparative Analysis of Classification Algorithms, ai_reseach_paper.pdf.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EDB49-CEAE-4698-89D3-FDE1CB9D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[2] spam_detection_colab.ipynb, implementation notebook for Enron dataset preprocessing, training, and evaluation.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7E8BD-06A2-4785-9A2D-7B0FCA18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[3] Sahami et al., A Bayesian Approach to Filtering Junk E-Mail, AAAI Workshop, 1998.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922F1-6DE0-447B-A919-0E5BFADF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[4] Drucker, Wu, and Vapnik, Support Vector Machines for Spam Categorization, IEEE Transactions on Neural Networks, 1999.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24489-7C9D-4B8A-8642-E28AEBCC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[5] Pedregosa et al., Scikit-learn: Machine Learning in Python, JMLR, 2011.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205D9-A4FC-4F69-B72F-A027BC24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0555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E2B36"/>
                </a:solidFill>
              </a:defRPr>
            </a:pPr>
            <a:r>
              <a:rPr sz="1875" b="0">
                <a:solidFill>
                  <a:srgbClr val="1E2B36"/>
                </a:solidFill>
              </a:rPr>
              <a:t>[6] Devlin et al., BERT: Pre-training of Deep Bidirectional Transformers for Language Understanding, NAACL, 2019.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2B3B7-4444-4C12-8B6D-8EA25CA2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82150"/>
            <a:ext cx="3009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B78"/>
                </a:solidFill>
              </a:defRPr>
            </a:pPr>
            <a:r>
              <a:rPr sz="1125" b="0">
                <a:solidFill>
                  <a:srgbClr val="5C6B78"/>
                </a:solidFill>
              </a:rPr>
              <a:t>Spam Email Detection Using Machine Learning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54337-B382-4F05-B7BC-8B5B274D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5440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73A67"/>
                </a:solidFill>
              </a:defRPr>
            </a:pPr>
            <a:r>
              <a:rPr sz="1500" b="1">
                <a:solidFill>
                  <a:srgbClr val="173A67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09587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2026-04-26T17:44:23.2880000Z</dcterms:created>
  <dcterms:modified xsi:type="dcterms:W3CDTF">2026-04-26T17:44:23.2880000Z</dcterms:modified>
</coreProperties>
</file>